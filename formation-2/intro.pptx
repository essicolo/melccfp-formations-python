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5B1D73-A15A-E19C-6F95-737F3FC2C7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23A4D21-B6E2-B34F-2EF4-EAFEDC771D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E29D75-5AFB-5157-D6BE-9F5D196E4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8F83E-DEF9-4DD0-9DD7-19D5931424C7}" type="datetimeFigureOut">
              <a:rPr lang="fr-CA" smtClean="0"/>
              <a:t>2026-01-20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E79DBE7-B0B4-D181-4169-B8FF1E571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6E192D3-1E98-C914-6C5D-FD1F45F73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1C5D-502C-4EA5-B8F0-5E84A050418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44850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C47A65-0D21-8515-71B1-7D27C0DE0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F2D860-992F-5B32-8E5C-6CD1496B6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3B0F2E8-69F9-0937-B2D2-46EAE09B5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8F83E-DEF9-4DD0-9DD7-19D5931424C7}" type="datetimeFigureOut">
              <a:rPr lang="fr-CA" smtClean="0"/>
              <a:t>2026-01-20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0E4D2A5-7928-60E5-1917-29360295E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A4CA5C9-56E6-B0A7-AC30-964076DDD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1C5D-502C-4EA5-B8F0-5E84A050418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42081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B91FB2-2C8F-3C1B-8D1E-786D3C15B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2957C37-0966-3B81-7B9B-071DE0E75E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70D9F9-9C28-D82E-1D4D-614A326F6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8F83E-DEF9-4DD0-9DD7-19D5931424C7}" type="datetimeFigureOut">
              <a:rPr lang="fr-CA" smtClean="0"/>
              <a:t>2026-01-20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23C582E-F860-2908-BDCF-E5D1A8E86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AA0C701-DE35-8C64-C0D4-152BB5C6E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1C5D-502C-4EA5-B8F0-5E84A050418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82433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839B9E-BB5A-3CB3-ABA9-0D2681179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56553A-C966-9BCA-2BAD-EF7C94B41D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D14A025-7051-3E90-0113-8479053CD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062A2CA-C3BB-64AD-8CA9-21F99B946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8F83E-DEF9-4DD0-9DD7-19D5931424C7}" type="datetimeFigureOut">
              <a:rPr lang="fr-CA" smtClean="0"/>
              <a:t>2026-01-20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F19CA64-A8B6-95FB-C79F-6367031FD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E3BD245-58D3-9317-37E3-22B2F95AD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1C5D-502C-4EA5-B8F0-5E84A050418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75390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0413A8-CFD2-AEC2-6A05-D0DF6BE96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79617E-3D07-5BFD-8AC0-34271BCEE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CF232FA-58BD-90C2-7515-9ECD013002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03396D4-CBB4-E2F9-404D-BD50CA342D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FC664E5-B38A-A58A-CC03-C906CF8B86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B21C712-9596-840D-5360-7996512F5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8F83E-DEF9-4DD0-9DD7-19D5931424C7}" type="datetimeFigureOut">
              <a:rPr lang="fr-CA" smtClean="0"/>
              <a:t>2026-01-20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F97DA2F-F11B-57A6-9697-A599982E3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1A5DF49-B0AF-19A2-AE70-917D93C44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1C5D-502C-4EA5-B8F0-5E84A050418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1944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D00A41-E6AC-5682-E03C-2D8D1B0FF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123ABA1-B941-BAD7-0B69-DBDC9CB4D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8F83E-DEF9-4DD0-9DD7-19D5931424C7}" type="datetimeFigureOut">
              <a:rPr lang="fr-CA" smtClean="0"/>
              <a:t>2026-01-20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9D5412E-8D0F-7DC0-B767-AC85E81E2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7F9877C-D6C7-0DFD-BA11-4258181E0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1C5D-502C-4EA5-B8F0-5E84A050418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058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9E8DADB-4556-D52B-57B4-87AF4F3D3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8F83E-DEF9-4DD0-9DD7-19D5931424C7}" type="datetimeFigureOut">
              <a:rPr lang="fr-CA" smtClean="0"/>
              <a:t>2026-01-20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B5B72FE-19A5-51F2-B8D5-1A9E9D6E3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B5FD6CD-4120-0C40-ABF7-669994502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1C5D-502C-4EA5-B8F0-5E84A050418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56179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474582-5EF1-F085-01E6-98A0B642A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8EE95A-0CD0-932D-AEEB-A0795B690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B6BF073-34C3-80EA-F18F-1AF376BD59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26EFA4F-251B-C625-7277-097E060A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8F83E-DEF9-4DD0-9DD7-19D5931424C7}" type="datetimeFigureOut">
              <a:rPr lang="fr-CA" smtClean="0"/>
              <a:t>2026-01-20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232894C-7A43-9CD0-19DA-33AAB37F4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6464918-7CD2-D6A8-D0EA-E23B76463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1C5D-502C-4EA5-B8F0-5E84A050418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73983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83F009-2753-86FF-EB7F-621D8AC67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D0D8D1B-0E85-DCDF-10A0-2702AA27DC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722D68D-CD14-1001-44F1-FED94812DA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EB68C52-627F-DDAF-31A1-C9761E2F8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8F83E-DEF9-4DD0-9DD7-19D5931424C7}" type="datetimeFigureOut">
              <a:rPr lang="fr-CA" smtClean="0"/>
              <a:t>2026-01-20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55C47BB-AC2B-4C14-942D-5105B4ECC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46B12F-A5E3-790B-4D77-E54347576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1C5D-502C-4EA5-B8F0-5E84A050418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92979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7E5EB7-3CCE-32D0-52AB-4E4F0978A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8BAFC3F-5EA1-C65F-4852-F908AADBC5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650CE2-C03A-155E-455C-2B96C33DC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8F83E-DEF9-4DD0-9DD7-19D5931424C7}" type="datetimeFigureOut">
              <a:rPr lang="fr-CA" smtClean="0"/>
              <a:t>2026-01-20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04AB95-D04C-81A6-6255-7CFB0F120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51F1A5-E272-55D6-3527-022D306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1C5D-502C-4EA5-B8F0-5E84A050418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71331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809A11A-F127-2F36-E967-FDF0297C15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B40AAC5-CEE8-4724-36D4-F7AF85D0CD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137827F-F1CB-7084-4E39-0AAEB1040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8F83E-DEF9-4DD0-9DD7-19D5931424C7}" type="datetimeFigureOut">
              <a:rPr lang="fr-CA" smtClean="0"/>
              <a:t>2026-01-20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244C947-4EB5-DBA1-A8A0-E8BD30E5E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91CEC0-590E-1695-C114-C7A4FA765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1C5D-502C-4EA5-B8F0-5E84A050418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18014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33D9B21-87A2-5E7E-4A24-D22EEA6BD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277045C-39BD-6204-4D12-1808BEE22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696C1F-BB68-1DFF-97C5-79B7B82BCB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88F83E-DEF9-4DD0-9DD7-19D5931424C7}" type="datetimeFigureOut">
              <a:rPr lang="fr-CA" smtClean="0"/>
              <a:t>2026-01-20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E6EF6B-5B07-52D3-3224-4A95AA3712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1AD240-18BE-1215-7AD4-C27560646F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7A1C5D-502C-4EA5-B8F0-5E84A050418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13191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treasurytoday.com/technology/the-right-tool-for-the-job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727FAC-4B49-24CA-9892-8A0FBA6696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dirty="0"/>
              <a:t>Calcul en Python – niveau </a:t>
            </a:r>
            <a:r>
              <a:rPr lang="fr-CA" dirty="0" err="1"/>
              <a:t>intermédiare</a:t>
            </a:r>
            <a:endParaRPr lang="fr-CA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65AF844-4549-5AB2-3269-2A53F33799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A" dirty="0"/>
              <a:t>Essi Parent</a:t>
            </a:r>
          </a:p>
        </p:txBody>
      </p:sp>
    </p:spTree>
    <p:extLst>
      <p:ext uri="{BB962C8B-B14F-4D97-AF65-F5344CB8AC3E}">
        <p14:creationId xmlns:p14="http://schemas.microsoft.com/office/powerpoint/2010/main" val="1718560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CFA712-1C1B-6BB1-38A7-6C389BF74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Objectifs généraux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E20630-EDE1-205A-6AF0-F424AEE5B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dirty="0"/>
              <a:t>Explorer les opportunités,</a:t>
            </a:r>
          </a:p>
          <a:p>
            <a:r>
              <a:rPr lang="fr-CA" dirty="0"/>
              <a:t>développer votre autonomie et</a:t>
            </a:r>
          </a:p>
          <a:p>
            <a:r>
              <a:rPr lang="fr-CA" dirty="0"/>
              <a:t>partager vos expériences</a:t>
            </a:r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r>
              <a:rPr lang="fr-CA" dirty="0"/>
              <a:t>en </a:t>
            </a:r>
            <a:r>
              <a:rPr lang="fr-CA" b="1" dirty="0"/>
              <a:t>calcul</a:t>
            </a:r>
            <a:r>
              <a:rPr lang="fr-CA" dirty="0"/>
              <a:t>, la </a:t>
            </a:r>
            <a:r>
              <a:rPr lang="fr-CA" b="1" dirty="0"/>
              <a:t>visualisation</a:t>
            </a:r>
            <a:r>
              <a:rPr lang="fr-CA" dirty="0"/>
              <a:t>, les </a:t>
            </a:r>
            <a:r>
              <a:rPr lang="fr-CA" b="1" dirty="0"/>
              <a:t>requêtes API </a:t>
            </a:r>
            <a:r>
              <a:rPr lang="fr-CA" dirty="0"/>
              <a:t>et l’</a:t>
            </a:r>
            <a:r>
              <a:rPr lang="fr-CA" b="1" dirty="0"/>
              <a:t>auto-apprentissage</a:t>
            </a:r>
            <a:r>
              <a:rPr lang="fr-CA" dirty="0"/>
              <a:t> sur des données spatialisées.</a:t>
            </a:r>
          </a:p>
          <a:p>
            <a:pPr marL="0" indent="0">
              <a:buNone/>
            </a:pP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076324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2D19-B92E-408B-914F-19EE8E9F1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Objectifs spécifiques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3C14D580-BB27-F927-52FB-BF709B3A80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1333683"/>
              </p:ext>
            </p:extLst>
          </p:nvPr>
        </p:nvGraphicFramePr>
        <p:xfrm>
          <a:off x="838200" y="2538254"/>
          <a:ext cx="10515600" cy="2286000"/>
        </p:xfrm>
        <a:graphic>
          <a:graphicData uri="http://schemas.openxmlformats.org/drawingml/2006/table">
            <a:tbl>
              <a:tblPr/>
              <a:tblGrid>
                <a:gridCol w="3208506">
                  <a:extLst>
                    <a:ext uri="{9D8B030D-6E8A-4147-A177-3AD203B41FA5}">
                      <a16:colId xmlns:a16="http://schemas.microsoft.com/office/drawing/2014/main" val="2773545334"/>
                    </a:ext>
                  </a:extLst>
                </a:gridCol>
                <a:gridCol w="7307094">
                  <a:extLst>
                    <a:ext uri="{9D8B030D-6E8A-4147-A177-3AD203B41FA5}">
                      <a16:colId xmlns:a16="http://schemas.microsoft.com/office/drawing/2014/main" val="28253937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A" sz="2400" b="1"/>
                        <a:t>Module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A" sz="2400" b="1" dirty="0"/>
                        <a:t>Objectifs spécifiques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2948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A" b="1" dirty="0"/>
                        <a:t>Installer Python</a:t>
                      </a:r>
                      <a:endParaRPr lang="fr-CA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A" dirty="0"/>
                        <a:t>Les gestionnaires `</a:t>
                      </a:r>
                      <a:r>
                        <a:rPr lang="fr-CA" dirty="0" err="1"/>
                        <a:t>uv</a:t>
                      </a:r>
                      <a:r>
                        <a:rPr lang="fr-CA" dirty="0"/>
                        <a:t>` et `</a:t>
                      </a:r>
                      <a:r>
                        <a:rPr lang="fr-CA" dirty="0" err="1"/>
                        <a:t>pixi</a:t>
                      </a:r>
                      <a:r>
                        <a:rPr lang="fr-CA" dirty="0"/>
                        <a:t>`.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5810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A" b="1" dirty="0"/>
                        <a:t>Données spatialisées</a:t>
                      </a:r>
                      <a:endParaRPr lang="fr-CA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A" dirty="0"/>
                        <a:t>Manipuler des tableaux avec des données géoréférencées.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9427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A" b="1"/>
                        <a:t>Visualisations</a:t>
                      </a:r>
                      <a:endParaRPr lang="fr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A" dirty="0"/>
                        <a:t>Créer des graphiques en mode déclaratif avec </a:t>
                      </a:r>
                      <a:r>
                        <a:rPr lang="fr-CA" dirty="0" err="1"/>
                        <a:t>Lets</a:t>
                      </a:r>
                      <a:r>
                        <a:rPr lang="fr-CA" dirty="0"/>
                        <a:t>-Plot.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510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A" b="1" dirty="0"/>
                        <a:t>Utiliser des API</a:t>
                      </a:r>
                      <a:endParaRPr lang="fr-CA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A" dirty="0"/>
                        <a:t>Utiliser </a:t>
                      </a:r>
                      <a:r>
                        <a:rPr lang="fr-CA" dirty="0" err="1"/>
                        <a:t>Planetary</a:t>
                      </a:r>
                      <a:r>
                        <a:rPr lang="fr-CA" dirty="0"/>
                        <a:t> computer pour récupérer des données publiques.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633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A" b="1" dirty="0"/>
                        <a:t>Auto-apprentissage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A" dirty="0"/>
                        <a:t>Utiliser </a:t>
                      </a:r>
                      <a:r>
                        <a:rPr lang="fr-CA" dirty="0" err="1"/>
                        <a:t>scikit-learn</a:t>
                      </a:r>
                      <a:r>
                        <a:rPr lang="fr-CA" dirty="0"/>
                        <a:t> pour des projections spatiales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4388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8823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A33003-3755-3D40-8C7A-BB5ADC58F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De Excel à Python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2282B0-8F84-EDF9-032F-6925AE3C4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5379"/>
            <a:ext cx="10515600" cy="4351338"/>
          </a:xfrm>
        </p:spPr>
        <p:txBody>
          <a:bodyPr/>
          <a:lstStyle/>
          <a:p>
            <a:r>
              <a:rPr lang="fr-CA" dirty="0"/>
              <a:t>Problèmes avec Excel</a:t>
            </a:r>
          </a:p>
          <a:p>
            <a:pPr lvl="1"/>
            <a:r>
              <a:rPr lang="fr-CA" dirty="0"/>
              <a:t>&gt; 90% des feuilles de calcul Excel utilisées dans un contexte financier ou budgétaire contiennent des erreurs (</a:t>
            </a:r>
            <a:r>
              <a:rPr lang="fr-CA" dirty="0" err="1">
                <a:hlinkClick r:id="rId2"/>
              </a:rPr>
              <a:t>Treasury</a:t>
            </a:r>
            <a:r>
              <a:rPr lang="fr-CA" dirty="0">
                <a:hlinkClick r:id="rId2"/>
              </a:rPr>
              <a:t> </a:t>
            </a:r>
            <a:r>
              <a:rPr lang="fr-CA" dirty="0" err="1">
                <a:hlinkClick r:id="rId2"/>
              </a:rPr>
              <a:t>Today</a:t>
            </a:r>
            <a:r>
              <a:rPr lang="fr-CA" dirty="0">
                <a:hlinkClick r:id="rId2"/>
              </a:rPr>
              <a:t>, 2013</a:t>
            </a:r>
            <a:r>
              <a:rPr lang="fr-CA" dirty="0"/>
              <a:t>)</a:t>
            </a:r>
          </a:p>
          <a:p>
            <a:pPr lvl="1"/>
            <a:r>
              <a:rPr lang="fr-CA" dirty="0"/>
              <a:t>Causes: erreurs silencieuses, multiplication des équations, </a:t>
            </a:r>
            <a:r>
              <a:rPr lang="fr-CA" dirty="0" err="1"/>
              <a:t>irreproductibilité</a:t>
            </a:r>
            <a:r>
              <a:rPr lang="fr-CA" dirty="0"/>
              <a:t>, suivi de version, performances médiocres, automatisation complexe</a:t>
            </a: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829DDD68-37F3-1F89-80E0-2F039653222C}"/>
              </a:ext>
            </a:extLst>
          </p:cNvPr>
          <p:cNvCxnSpPr/>
          <p:nvPr/>
        </p:nvCxnSpPr>
        <p:spPr>
          <a:xfrm>
            <a:off x="4861711" y="5097101"/>
            <a:ext cx="42551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" name="Image 10">
            <a:extLst>
              <a:ext uri="{FF2B5EF4-FFF2-40B4-BE49-F238E27FC236}">
                <a16:creationId xmlns:a16="http://schemas.microsoft.com/office/drawing/2014/main" id="{B3EBC1C5-64E0-4C54-654C-6FAFB104D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496" y="3811510"/>
            <a:ext cx="4118241" cy="2681366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8B63DACA-41C7-25DA-DFDD-0B887DB6E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033" y="3651967"/>
            <a:ext cx="3610368" cy="2890267"/>
          </a:xfrm>
          <a:prstGeom prst="rect">
            <a:avLst/>
          </a:prstGeom>
        </p:spPr>
      </p:pic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FFBA0625-E4CA-FF0C-355E-DD82E0518516}"/>
              </a:ext>
            </a:extLst>
          </p:cNvPr>
          <p:cNvCxnSpPr>
            <a:cxnSpLocks/>
          </p:cNvCxnSpPr>
          <p:nvPr/>
        </p:nvCxnSpPr>
        <p:spPr>
          <a:xfrm>
            <a:off x="5723503" y="5152193"/>
            <a:ext cx="37249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2930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3691FC-F7F4-3F8D-45EC-9FCF158D2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/>
              <a:t>marimo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B8001B-91AA-A4C5-02F0-8156C4E30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CA" i="1" dirty="0"/>
              <a:t>Python</a:t>
            </a:r>
            <a:r>
              <a:rPr lang="fr-CA" dirty="0"/>
              <a:t> est le moteur de calcul</a:t>
            </a:r>
          </a:p>
          <a:p>
            <a:pPr marL="0" indent="0">
              <a:buNone/>
            </a:pPr>
            <a:r>
              <a:rPr lang="fr-CA" i="1" dirty="0" err="1"/>
              <a:t>marimo</a:t>
            </a:r>
            <a:r>
              <a:rPr lang="fr-CA" dirty="0"/>
              <a:t> est une interface conviviale</a:t>
            </a:r>
          </a:p>
          <a:p>
            <a:r>
              <a:rPr lang="fr-CA" b="1" dirty="0"/>
              <a:t>Facile</a:t>
            </a:r>
            <a:r>
              <a:rPr lang="fr-CA" dirty="0"/>
              <a:t>. </a:t>
            </a:r>
            <a:r>
              <a:rPr lang="fr-CA" dirty="0" err="1"/>
              <a:t>marimo.app</a:t>
            </a:r>
            <a:r>
              <a:rPr lang="fr-CA" dirty="0"/>
              <a:t> – calcul dans le navigateur</a:t>
            </a:r>
          </a:p>
          <a:p>
            <a:r>
              <a:rPr lang="fr-CA" b="1" dirty="0"/>
              <a:t>Plutôt facile</a:t>
            </a:r>
            <a:r>
              <a:rPr lang="fr-CA" dirty="0"/>
              <a:t>. molab.maromo.io – calcul sur un serveur</a:t>
            </a:r>
          </a:p>
          <a:p>
            <a:r>
              <a:rPr lang="fr-CA" b="1" dirty="0"/>
              <a:t>Plus difficile</a:t>
            </a:r>
            <a:r>
              <a:rPr lang="fr-CA" dirty="0"/>
              <a:t>. </a:t>
            </a:r>
            <a:r>
              <a:rPr lang="fr-CA" dirty="0" err="1"/>
              <a:t>marimo</a:t>
            </a:r>
            <a:r>
              <a:rPr lang="fr-CA" dirty="0"/>
              <a:t> </a:t>
            </a:r>
            <a:r>
              <a:rPr lang="fr-CA" dirty="0" err="1"/>
              <a:t>edit</a:t>
            </a:r>
            <a:r>
              <a:rPr lang="fr-CA" dirty="0"/>
              <a:t> – calcul sur votre ordinateur</a:t>
            </a:r>
          </a:p>
          <a:p>
            <a:endParaRPr lang="fr-CA" dirty="0"/>
          </a:p>
          <a:p>
            <a:pPr>
              <a:buFont typeface="Wingdings" panose="05000000000000000000" pitchFamily="2" charset="2"/>
              <a:buChar char="à"/>
            </a:pPr>
            <a:r>
              <a:rPr lang="fr-CA" dirty="0" err="1">
                <a:sym typeface="Wingdings" panose="05000000000000000000" pitchFamily="2" charset="2"/>
              </a:rPr>
              <a:t>marimo.app</a:t>
            </a:r>
            <a:endParaRPr lang="fr-CA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à"/>
            </a:pPr>
            <a:r>
              <a:rPr lang="fr-CA" dirty="0">
                <a:sym typeface="Wingdings" panose="05000000000000000000" pitchFamily="2" charset="2"/>
              </a:rPr>
              <a:t>molab.marimo.com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fr-CA" dirty="0"/>
              <a:t>Installation avec </a:t>
            </a:r>
            <a:r>
              <a:rPr lang="fr-CA" dirty="0" err="1"/>
              <a:t>pixi</a:t>
            </a:r>
            <a:endParaRPr lang="fr-CA" dirty="0"/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233872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5F5B6F-1AF3-242C-EB0B-EB9D5C93F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Installations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B9BCE81-DDDB-63EB-534F-FE402802B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5844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endParaRPr lang="fr-CA" sz="2400" dirty="0">
              <a:latin typeface="Fira Code" pitchFamily="1" charset="0"/>
              <a:ea typeface="Fira Code" pitchFamily="1" charset="0"/>
              <a:cs typeface="Fira Code" pitchFamily="1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fr-CA" sz="2400" dirty="0">
                <a:latin typeface="Fira Code" pitchFamily="1" charset="0"/>
                <a:ea typeface="Fira Code" pitchFamily="1" charset="0"/>
                <a:cs typeface="Fira Code" pitchFamily="1" charset="0"/>
              </a:rPr>
              <a:t>----- * ------------------------- </a:t>
            </a:r>
            <a:r>
              <a:rPr lang="fr-CA" sz="2400" dirty="0" err="1">
                <a:latin typeface="Fira Code" pitchFamily="1" charset="0"/>
                <a:ea typeface="Fira Code" pitchFamily="1" charset="0"/>
                <a:cs typeface="Fira Code" pitchFamily="1" charset="0"/>
              </a:rPr>
              <a:t>virtualenv</a:t>
            </a:r>
            <a:br>
              <a:rPr lang="fr-CA" sz="2400" dirty="0">
                <a:latin typeface="Fira Code" pitchFamily="1" charset="0"/>
                <a:ea typeface="Fira Code" pitchFamily="1" charset="0"/>
                <a:cs typeface="Fira Code" pitchFamily="1" charset="0"/>
              </a:rPr>
            </a:br>
            <a:r>
              <a:rPr lang="fr-CA" sz="2400" dirty="0">
                <a:latin typeface="Fira Code" pitchFamily="1" charset="0"/>
                <a:ea typeface="Fira Code" pitchFamily="1" charset="0"/>
                <a:cs typeface="Fira Code" pitchFamily="1" charset="0"/>
              </a:rPr>
              <a:t>       \         /--------------- </a:t>
            </a:r>
            <a:r>
              <a:rPr lang="fr-CA" sz="2400" dirty="0" err="1">
                <a:latin typeface="Fira Code" pitchFamily="1" charset="0"/>
                <a:ea typeface="Fira Code" pitchFamily="1" charset="0"/>
                <a:cs typeface="Fira Code" pitchFamily="1" charset="0"/>
              </a:rPr>
              <a:t>pipx</a:t>
            </a:r>
            <a:br>
              <a:rPr lang="fr-CA" sz="2400" dirty="0">
                <a:latin typeface="Fira Code" pitchFamily="1" charset="0"/>
                <a:ea typeface="Fira Code" pitchFamily="1" charset="0"/>
                <a:cs typeface="Fira Code" pitchFamily="1" charset="0"/>
              </a:rPr>
            </a:br>
            <a:r>
              <a:rPr lang="fr-CA" sz="2400" dirty="0">
                <a:latin typeface="Fira Code" pitchFamily="1" charset="0"/>
                <a:ea typeface="Fira Code" pitchFamily="1" charset="0"/>
                <a:cs typeface="Fira Code" pitchFamily="1" charset="0"/>
              </a:rPr>
              <a:t>        \ ----- * --------------- </a:t>
            </a:r>
            <a:r>
              <a:rPr lang="fr-CA" sz="2400" dirty="0" err="1">
                <a:latin typeface="Fira Code" pitchFamily="1" charset="0"/>
                <a:ea typeface="Fira Code" pitchFamily="1" charset="0"/>
                <a:cs typeface="Fira Code" pitchFamily="1" charset="0"/>
              </a:rPr>
              <a:t>pip</a:t>
            </a:r>
            <a:r>
              <a:rPr lang="fr-CA" sz="2400" dirty="0">
                <a:latin typeface="Fira Code" pitchFamily="1" charset="0"/>
                <a:ea typeface="Fira Code" pitchFamily="1" charset="0"/>
                <a:cs typeface="Fira Code" pitchFamily="1" charset="0"/>
              </a:rPr>
              <a:t>, </a:t>
            </a:r>
            <a:r>
              <a:rPr lang="fr-CA" sz="2400" dirty="0" err="1">
                <a:latin typeface="Fira Code" pitchFamily="1" charset="0"/>
                <a:ea typeface="Fira Code" pitchFamily="1" charset="0"/>
                <a:cs typeface="Fira Code" pitchFamily="1" charset="0"/>
              </a:rPr>
              <a:t>venv</a:t>
            </a:r>
            <a:br>
              <a:rPr lang="fr-CA" sz="2400" dirty="0">
                <a:latin typeface="Fira Code" pitchFamily="1" charset="0"/>
                <a:ea typeface="Fira Code" pitchFamily="1" charset="0"/>
                <a:cs typeface="Fira Code" pitchFamily="1" charset="0"/>
              </a:rPr>
            </a:br>
            <a:r>
              <a:rPr lang="fr-CA" sz="2400" dirty="0">
                <a:latin typeface="Fira Code" pitchFamily="1" charset="0"/>
                <a:ea typeface="Fira Code" pitchFamily="1" charset="0"/>
                <a:cs typeface="Fira Code" pitchFamily="1" charset="0"/>
              </a:rPr>
              <a:t>                 \ ----- * ------ </a:t>
            </a:r>
            <a:r>
              <a:rPr lang="fr-CA" sz="2400" dirty="0" err="1">
                <a:latin typeface="Fira Code" pitchFamily="1" charset="0"/>
                <a:ea typeface="Fira Code" pitchFamily="1" charset="0"/>
                <a:cs typeface="Fira Code" pitchFamily="1" charset="0"/>
              </a:rPr>
              <a:t>poetry</a:t>
            </a:r>
            <a:br>
              <a:rPr lang="fr-CA" sz="2400" dirty="0">
                <a:latin typeface="Fira Code" pitchFamily="1" charset="0"/>
                <a:ea typeface="Fira Code" pitchFamily="1" charset="0"/>
                <a:cs typeface="Fira Code" pitchFamily="1" charset="0"/>
              </a:rPr>
            </a:br>
            <a:r>
              <a:rPr lang="fr-CA" sz="2400" dirty="0">
                <a:latin typeface="Fira Code" pitchFamily="1" charset="0"/>
                <a:ea typeface="Fira Code" pitchFamily="1" charset="0"/>
                <a:cs typeface="Fira Code" pitchFamily="1" charset="0"/>
              </a:rPr>
              <a:t>                          \ ----- </a:t>
            </a:r>
            <a:r>
              <a:rPr lang="fr-CA" sz="2400" b="1" dirty="0" err="1">
                <a:latin typeface="Fira Code" pitchFamily="1" charset="0"/>
                <a:ea typeface="Fira Code" pitchFamily="1" charset="0"/>
                <a:cs typeface="Fira Code" pitchFamily="1" charset="0"/>
              </a:rPr>
              <a:t>uv</a:t>
            </a:r>
            <a:endParaRPr lang="fr-CA" sz="2400" b="1" dirty="0">
              <a:latin typeface="Fira Code" pitchFamily="1" charset="0"/>
              <a:ea typeface="Fira Code" pitchFamily="1" charset="0"/>
              <a:cs typeface="Fira Code" pitchFamily="1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fr-CA" sz="2400" dirty="0">
                <a:latin typeface="Fira Code" pitchFamily="1" charset="0"/>
                <a:ea typeface="Fira Code" pitchFamily="1" charset="0"/>
                <a:cs typeface="Fira Code" pitchFamily="1" charset="0"/>
              </a:rPr>
              <a:t>----- * --------------- </a:t>
            </a:r>
            <a:r>
              <a:rPr lang="fr-CA" sz="2400" dirty="0" err="1">
                <a:latin typeface="Fira Code" pitchFamily="1" charset="0"/>
                <a:ea typeface="Fira Code" pitchFamily="1" charset="0"/>
                <a:cs typeface="Fira Code" pitchFamily="1" charset="0"/>
              </a:rPr>
              <a:t>conda</a:t>
            </a:r>
            <a:br>
              <a:rPr lang="fr-CA" sz="2400" dirty="0">
                <a:latin typeface="Fira Code" pitchFamily="1" charset="0"/>
                <a:ea typeface="Fira Code" pitchFamily="1" charset="0"/>
                <a:cs typeface="Fira Code" pitchFamily="1" charset="0"/>
              </a:rPr>
            </a:br>
            <a:r>
              <a:rPr lang="fr-CA" sz="2400" dirty="0">
                <a:latin typeface="Fira Code" pitchFamily="1" charset="0"/>
                <a:ea typeface="Fira Code" pitchFamily="1" charset="0"/>
                <a:cs typeface="Fira Code" pitchFamily="1" charset="0"/>
              </a:rPr>
              <a:t>        \ ----- * ----- </a:t>
            </a:r>
            <a:r>
              <a:rPr lang="fr-CA" sz="2400" b="1" dirty="0">
                <a:latin typeface="Fira Code" pitchFamily="1" charset="0"/>
                <a:ea typeface="Fira Code" pitchFamily="1" charset="0"/>
                <a:cs typeface="Fira Code" pitchFamily="1" charset="0"/>
              </a:rPr>
              <a:t>mamba</a:t>
            </a:r>
            <a:br>
              <a:rPr lang="fr-CA" sz="2400" dirty="0">
                <a:latin typeface="Fira Code" pitchFamily="1" charset="0"/>
                <a:ea typeface="Fira Code" pitchFamily="1" charset="0"/>
                <a:cs typeface="Fira Code" pitchFamily="1" charset="0"/>
              </a:rPr>
            </a:br>
            <a:r>
              <a:rPr lang="fr-CA" sz="2400" dirty="0">
                <a:latin typeface="Fira Code" pitchFamily="1" charset="0"/>
                <a:ea typeface="Fira Code" pitchFamily="1" charset="0"/>
                <a:cs typeface="Fira Code" pitchFamily="1" charset="0"/>
              </a:rPr>
              <a:t>                \ ----- </a:t>
            </a:r>
            <a:r>
              <a:rPr lang="fr-CA" sz="2400" b="1" dirty="0" err="1">
                <a:latin typeface="Fira Code" pitchFamily="1" charset="0"/>
                <a:ea typeface="Fira Code" pitchFamily="1" charset="0"/>
                <a:cs typeface="Fira Code" pitchFamily="1" charset="0"/>
              </a:rPr>
              <a:t>pixi</a:t>
            </a:r>
            <a:endParaRPr lang="fr-CA" sz="2400" b="1" dirty="0">
              <a:latin typeface="Fira Code" pitchFamily="1" charset="0"/>
              <a:ea typeface="Fira Code" pitchFamily="1" charset="0"/>
              <a:cs typeface="Fira Code" pitchFamily="1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fr-CA" sz="2400" dirty="0">
              <a:ea typeface="Fira Code" pitchFamily="1" charset="0"/>
              <a:cs typeface="Fira Code" pitchFamily="1" charset="0"/>
            </a:endParaRPr>
          </a:p>
          <a:p>
            <a:pPr>
              <a:lnSpc>
                <a:spcPct val="100000"/>
              </a:lnSpc>
            </a:pPr>
            <a:r>
              <a:rPr lang="fr-CA" sz="2400" dirty="0">
                <a:ea typeface="Fira Code" pitchFamily="1" charset="0"/>
                <a:cs typeface="Fira Code" pitchFamily="1" charset="0"/>
              </a:rPr>
              <a:t>packages géospatiaux: </a:t>
            </a:r>
            <a:r>
              <a:rPr lang="fr-CA" sz="2400" dirty="0" err="1">
                <a:ea typeface="Fira Code" pitchFamily="1" charset="0"/>
                <a:cs typeface="Fira Code" pitchFamily="1" charset="0"/>
              </a:rPr>
              <a:t>pixi</a:t>
            </a:r>
            <a:endParaRPr lang="fr-CA" sz="2400" dirty="0">
              <a:ea typeface="Fira Code" pitchFamily="1" charset="0"/>
              <a:cs typeface="Fira Code" pitchFamily="1" charset="0"/>
            </a:endParaRPr>
          </a:p>
          <a:p>
            <a:pPr>
              <a:lnSpc>
                <a:spcPct val="100000"/>
              </a:lnSpc>
            </a:pPr>
            <a:r>
              <a:rPr lang="fr-CA" sz="2400" dirty="0">
                <a:ea typeface="Fira Code" pitchFamily="1" charset="0"/>
                <a:cs typeface="Fira Code" pitchFamily="1" charset="0"/>
              </a:rPr>
              <a:t>autre: </a:t>
            </a:r>
            <a:r>
              <a:rPr lang="fr-CA" sz="2400" dirty="0" err="1">
                <a:ea typeface="Fira Code" pitchFamily="1" charset="0"/>
                <a:cs typeface="Fira Code" pitchFamily="1" charset="0"/>
              </a:rPr>
              <a:t>uv</a:t>
            </a:r>
            <a:endParaRPr lang="fr-CA" sz="2400" dirty="0">
              <a:ea typeface="Fira Code" pitchFamily="1" charset="0"/>
              <a:cs typeface="Fira Code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86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CDA188-8E4A-A590-D5DC-34DCCA500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Auto-apprentissage</a:t>
            </a:r>
          </a:p>
        </p:txBody>
      </p:sp>
      <p:pic>
        <p:nvPicPr>
          <p:cNvPr id="5" name="Image 4" descr="Une image contenant texte, diagramme, ligne, Plan&#10;&#10;Le contenu généré par l’IA peut être incorrect.">
            <a:extLst>
              <a:ext uri="{FF2B5EF4-FFF2-40B4-BE49-F238E27FC236}">
                <a16:creationId xmlns:a16="http://schemas.microsoft.com/office/drawing/2014/main" id="{D0A830B8-0EFF-98D4-945A-7BD67C903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193" y="1690688"/>
            <a:ext cx="8288774" cy="423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482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8EE690-0F32-AC5E-F641-DC59590CC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Flux de travail typique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2CCB23A-544B-BF7E-77FB-5C0BD2AF2A8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0774" y="1825625"/>
            <a:ext cx="869045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0584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D33653-F331-5BA5-66A2-75315D19D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/>
              <a:t>Mésapprentissage</a:t>
            </a:r>
            <a:endParaRPr lang="fr-CA" dirty="0"/>
          </a:p>
        </p:txBody>
      </p:sp>
      <p:pic>
        <p:nvPicPr>
          <p:cNvPr id="5" name="Espace réservé du contenu 4" descr="Une image contenant diagramme, Tracé, ligne, texte&#10;&#10;Le contenu généré par l’IA peut être incorrect.">
            <a:extLst>
              <a:ext uri="{FF2B5EF4-FFF2-40B4-BE49-F238E27FC236}">
                <a16:creationId xmlns:a16="http://schemas.microsoft.com/office/drawing/2014/main" id="{5543F829-9B52-9CB8-1F68-1DD2435445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4132" y="1227760"/>
            <a:ext cx="7703736" cy="554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04841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1231</TotalTime>
  <Words>259</Words>
  <Application>Microsoft Office PowerPoint</Application>
  <PresentationFormat>Grand écran</PresentationFormat>
  <Paragraphs>45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Fira Code</vt:lpstr>
      <vt:lpstr>Wingdings</vt:lpstr>
      <vt:lpstr>Thème Office</vt:lpstr>
      <vt:lpstr>Calcul en Python – niveau intermédiare</vt:lpstr>
      <vt:lpstr>Objectifs généraux</vt:lpstr>
      <vt:lpstr>Objectifs spécifiques</vt:lpstr>
      <vt:lpstr>De Excel à Python</vt:lpstr>
      <vt:lpstr>marimo</vt:lpstr>
      <vt:lpstr>Installations</vt:lpstr>
      <vt:lpstr>Auto-apprentissage</vt:lpstr>
      <vt:lpstr>Flux de travail typique</vt:lpstr>
      <vt:lpstr>Mésapprentissage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Parent, Serge-Etienne</dc:creator>
  <cp:lastModifiedBy>Parent, Serge-Etienne</cp:lastModifiedBy>
  <cp:revision>5</cp:revision>
  <dcterms:created xsi:type="dcterms:W3CDTF">2026-01-13T16:29:27Z</dcterms:created>
  <dcterms:modified xsi:type="dcterms:W3CDTF">2026-01-20T19:16:22Z</dcterms:modified>
</cp:coreProperties>
</file>